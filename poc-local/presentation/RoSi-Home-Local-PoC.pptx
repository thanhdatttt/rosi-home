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266e85f2064c50" /><Relationship Type="http://schemas.openxmlformats.org/officeDocument/2006/relationships/extended-properties" Target="/docProps/app.xml" Id="R8a984d4ab2ce4480" /><Relationship Type="http://schemas.openxmlformats.org/officeDocument/2006/relationships/officeDocument" Target="/ppt/presentation.xml" Id="R20016ba4fc0844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bcde87001a4ffd"/>
  </p:sldMasterIdLst>
  <p:notesMasterIdLst>
    <p:notesMasterId xmlns:r="http://schemas.openxmlformats.org/officeDocument/2006/relationships" r:id="R04fd8c9db87b405c"/>
  </p:notesMasterIdLst>
  <p:sldIdLst>
    <p:sldId xmlns:r="http://schemas.openxmlformats.org/officeDocument/2006/relationships" id="256" r:id="R05e161a4db864498"/>
    <p:sldId xmlns:r="http://schemas.openxmlformats.org/officeDocument/2006/relationships" id="257" r:id="Rcdd6bef446254bf5"/>
    <p:sldId xmlns:r="http://schemas.openxmlformats.org/officeDocument/2006/relationships" id="258" r:id="Rea27ca66b2514e08"/>
    <p:sldId xmlns:r="http://schemas.openxmlformats.org/officeDocument/2006/relationships" id="259" r:id="R1ea77ed474ec448c"/>
    <p:sldId xmlns:r="http://schemas.openxmlformats.org/officeDocument/2006/relationships" id="260" r:id="Rd8906f9ec5bd43f2"/>
    <p:sldId xmlns:r="http://schemas.openxmlformats.org/officeDocument/2006/relationships" id="261" r:id="Rb116318415714270"/>
    <p:sldId xmlns:r="http://schemas.openxmlformats.org/officeDocument/2006/relationships" id="262" r:id="R7ea70a2309234580"/>
    <p:sldId xmlns:r="http://schemas.openxmlformats.org/officeDocument/2006/relationships" id="263" r:id="Ra47d0a2084724014"/>
    <p:sldId xmlns:r="http://schemas.openxmlformats.org/officeDocument/2006/relationships" id="264" r:id="R0ff5813611a04132"/>
    <p:sldId xmlns:r="http://schemas.openxmlformats.org/officeDocument/2006/relationships" id="265" r:id="Rd97944edff0d4de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b44c50ecdda4ed0" /><Relationship Type="http://schemas.openxmlformats.org/officeDocument/2006/relationships/slideMaster" Target="/ppt/slideMasters/slideMaster1.xml" Id="R9ebcde87001a4ffd" /><Relationship Type="http://schemas.openxmlformats.org/officeDocument/2006/relationships/notesMaster" Target="/ppt/notesMasters/notesMaster1.xml" Id="R04fd8c9db87b405c" /><Relationship Type="http://schemas.openxmlformats.org/officeDocument/2006/relationships/presProps" Target="/ppt/presProps.xml" Id="R298d2158c3204e41" /><Relationship Type="http://schemas.openxmlformats.org/officeDocument/2006/relationships/tableStyles" Target="/ppt/tableStyles.xml" Id="Rabcc6e1a3db44eba" /><Relationship Type="http://schemas.openxmlformats.org/officeDocument/2006/relationships/slide" Target="/ppt/slides/slide1.xml" Id="R05e161a4db864498" /><Relationship Type="http://schemas.openxmlformats.org/officeDocument/2006/relationships/slide" Target="/ppt/slides/slide2.xml" Id="Rcdd6bef446254bf5" /><Relationship Type="http://schemas.openxmlformats.org/officeDocument/2006/relationships/slide" Target="/ppt/slides/slide3.xml" Id="Rea27ca66b2514e08" /><Relationship Type="http://schemas.openxmlformats.org/officeDocument/2006/relationships/slide" Target="/ppt/slides/slide4.xml" Id="R1ea77ed474ec448c" /><Relationship Type="http://schemas.openxmlformats.org/officeDocument/2006/relationships/slide" Target="/ppt/slides/slide5.xml" Id="Rd8906f9ec5bd43f2" /><Relationship Type="http://schemas.openxmlformats.org/officeDocument/2006/relationships/slide" Target="/ppt/slides/slide6.xml" Id="Rb116318415714270" /><Relationship Type="http://schemas.openxmlformats.org/officeDocument/2006/relationships/slide" Target="/ppt/slides/slide7.xml" Id="R7ea70a2309234580" /><Relationship Type="http://schemas.openxmlformats.org/officeDocument/2006/relationships/slide" Target="/ppt/slides/slide8.xml" Id="Ra47d0a2084724014" /><Relationship Type="http://schemas.openxmlformats.org/officeDocument/2006/relationships/slide" Target="/ppt/slides/slide9.xml" Id="R0ff5813611a04132" /><Relationship Type="http://schemas.openxmlformats.org/officeDocument/2006/relationships/slide" Target="/ppt/slides/slide10.xml" Id="Rd97944edff0d4de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f9c0dfd78f14c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409031eb6684d11" /><Relationship Type="http://schemas.openxmlformats.org/officeDocument/2006/relationships/notesMaster" Target="/ppt/notesMasters/notesMaster1.xml" Id="Rf3d3c601c513449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62a6e2265e4e78" /><Relationship Type="http://schemas.openxmlformats.org/officeDocument/2006/relationships/notesMaster" Target="/ppt/notesMasters/notesMaster1.xml" Id="Rde60fc2fe8134c3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71d0867a7e4cb8" /><Relationship Type="http://schemas.openxmlformats.org/officeDocument/2006/relationships/notesMaster" Target="/ppt/notesMasters/notesMaster1.xml" Id="Rbf7dfaa067f54b7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4339e2e0b4406c" /><Relationship Type="http://schemas.openxmlformats.org/officeDocument/2006/relationships/notesMaster" Target="/ppt/notesMasters/notesMaster1.xml" Id="Rcd2577d110404d1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94e85fe2634fb2" /><Relationship Type="http://schemas.openxmlformats.org/officeDocument/2006/relationships/notesMaster" Target="/ppt/notesMasters/notesMaster1.xml" Id="Rae67393bd90246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61a056f7394e4c" /><Relationship Type="http://schemas.openxmlformats.org/officeDocument/2006/relationships/notesMaster" Target="/ppt/notesMasters/notesMaster1.xml" Id="R1d799eb4873246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d27999f3734e8f" /><Relationship Type="http://schemas.openxmlformats.org/officeDocument/2006/relationships/notesMaster" Target="/ppt/notesMasters/notesMaster1.xml" Id="Ref9a978bcf0a41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a058acfcbe4221" /><Relationship Type="http://schemas.openxmlformats.org/officeDocument/2006/relationships/notesMaster" Target="/ppt/notesMasters/notesMaster1.xml" Id="R08398fe70fe343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9cbb930ef04e07" /><Relationship Type="http://schemas.openxmlformats.org/officeDocument/2006/relationships/notesMaster" Target="/ppt/notesMasters/notesMaster1.xml" Id="R0ea5bfd0b84347f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1e3f0b426e4378" /><Relationship Type="http://schemas.openxmlformats.org/officeDocument/2006/relationships/notesMaster" Target="/ppt/notesMasters/notesMaster1.xml" Id="Rdccdf4239ee94b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e5596e534b476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67903f9d894562" /><Relationship Type="http://schemas.openxmlformats.org/officeDocument/2006/relationships/slideLayout" Target="/ppt/slideLayouts/slideLayout1.xml" Id="R8458b84c41074ea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458b84c41074ea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8f651f9714b65" /><Relationship Type="http://schemas.openxmlformats.org/officeDocument/2006/relationships/notesSlide" Target="/ppt/notesSlides/notesSlide1.xml" Id="R91bb5e794f2246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7d3a99015840f5" /><Relationship Type="http://schemas.openxmlformats.org/officeDocument/2006/relationships/notesSlide" Target="/ppt/notesSlides/notesSlide2.xml" Id="R8d3aed43e60b44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b8c9b430b744c8" /><Relationship Type="http://schemas.openxmlformats.org/officeDocument/2006/relationships/notesSlide" Target="/ppt/notesSlides/notesSlide3.xml" Id="R72136ff4f63c44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95588f175455f" /><Relationship Type="http://schemas.openxmlformats.org/officeDocument/2006/relationships/notesSlide" Target="/ppt/notesSlides/notesSlide4.xml" Id="Ra9036c6204a14f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f142efb7e4ce3" /><Relationship Type="http://schemas.openxmlformats.org/officeDocument/2006/relationships/notesSlide" Target="/ppt/notesSlides/notesSlide5.xml" Id="Rdadef9c413c44d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ac104c6d64769" /><Relationship Type="http://schemas.openxmlformats.org/officeDocument/2006/relationships/notesSlide" Target="/ppt/notesSlides/notesSlide6.xml" Id="R15f2c7b45c034f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bd6abd8324f67" /><Relationship Type="http://schemas.openxmlformats.org/officeDocument/2006/relationships/notesSlide" Target="/ppt/notesSlides/notesSlide7.xml" Id="Ra6436cfbeaec43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43b516ee4def" /><Relationship Type="http://schemas.openxmlformats.org/officeDocument/2006/relationships/image" Target="/ppt/media/image.png" Id="Ra8a5cf77e9d14efd" /><Relationship Type="http://schemas.openxmlformats.org/officeDocument/2006/relationships/notesSlide" Target="/ppt/notesSlides/notesSlide8.xml" Id="Rd6450ca4522e4b1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470b3498548bf" /><Relationship Type="http://schemas.openxmlformats.org/officeDocument/2006/relationships/notesSlide" Target="/ppt/notesSlides/notesSlide9.xml" Id="R59a113c392de4e8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3d8f1d8c774058" /><Relationship Type="http://schemas.openxmlformats.org/officeDocument/2006/relationships/notesSlide" Target="/ppt/notesSlides/notesSlide10.xml" Id="Rd00d662667764b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8D1060-30EB-4C4A-90C0-065C74B5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9525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51B76-CE6B-4C35-A5B0-3ADC18982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31242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6780DE-C293-46B0-AC00-3B0786B6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23900"/>
            <a:ext cx="3124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LOCAL · STANDALONE · SYNTHETIC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573830-7E7C-4A50-8F54-193D5CCD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71625"/>
            <a:ext cx="9239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Kiến trúc hoạt động.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11827"/>
                </a:solidFill>
              </a:defRPr>
            </a:pPr>
            <a:r>
              <a:rPr sz="5400" b="1">
                <a:solidFill>
                  <a:srgbClr val="111827"/>
                </a:solidFill>
              </a:rPr>
              <a:t>Bài toán khó có bằng chứng.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6DDC14-79F2-4859-BFB9-7F89B3BE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005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556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66175"/>
                </a:solidFill>
              </a:defRPr>
            </a:pPr>
            <a:r>
              <a:rPr sz="2250" b="0">
                <a:solidFill>
                  <a:srgbClr val="566175"/>
                </a:solidFill>
              </a:rPr>
              <a:t>RoSi-Home local Proof of Concept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9F716-1C32-410E-82AE-5E2DC3F5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62500"/>
            <a:ext cx="885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47AE"/>
                </a:solidFill>
              </a:defRPr>
            </a:pPr>
            <a:r>
              <a:rPr sz="1650" b="1">
                <a:solidFill>
                  <a:srgbClr val="0847AE"/>
                </a:solidFill>
              </a:rPr>
              <a:t>Expo / React Native  →  Express / TypeScript  →  Drizzle / PGlite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C571F7-C06B-481D-BA0F-7F63C3DF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149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Không Render · Không Supabase · Không payment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D1F317-F701-452B-993D-36E878D62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23489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6A4DF5-6968-4B27-B841-9F52B9E0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6FB8F0-2AAC-459A-B221-A7FADED5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Hai câu hỏi phải được trả lời bằng quan sát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D1F2E-7D0B-4A96-A7EC-0E4A8948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1A2CD-3171-47E3-844A-8C7CDF6E7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06E55-21D1-4CE3-AEC3-51559143C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53149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E0385-80EE-4F4C-9D47-004A1E6C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63F6"/>
                </a:solidFill>
              </a:defRPr>
            </a:pPr>
            <a:r>
              <a:rPr sz="4350" b="1">
                <a:solidFill>
                  <a:srgbClr val="0B63F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DA998B-E676-48D1-8F13-11DF3FE21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4325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Technology stack có chạy đúng kiến trúc?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CE5E1-AF46-464B-B8D7-EC018FDD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910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Một thao tác từ Expo phải đi qua HTTP, auth, validation, service, repository và dữ liệu persisted thật.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58942-B3AC-48CA-A493-032419F2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2578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47AE"/>
                </a:solidFill>
              </a:defRPr>
            </a:pPr>
            <a:r>
              <a:rPr sz="1200" b="1">
                <a:solidFill>
                  <a:srgbClr val="0847AE"/>
                </a:solidFill>
              </a:rPr>
              <a:t>BẰNG CHỨNG  ·  vertical slice + restart + owner isolation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35A41D-D603-4E56-9708-5F238624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53149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18B91C-0BA4-47FA-BAEE-83D80F86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24100"/>
            <a:ext cx="85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655"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0B63F6"/>
                </a:solidFill>
              </a:defRPr>
            </a:pPr>
            <a:r>
              <a:rPr sz="4350" b="1">
                <a:solidFill>
                  <a:srgbClr val="0B63F6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F2BF0-205C-48BC-AA71-AF6076A6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667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</a:rPr>
              <a:t>Bài toán khó nhất có giải được?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CC7956-29A4-4781-9FFA-7611ECB0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4667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Billing phải giữ đúng tiền, lịch sử, idempotency, ownership, state và payload VietQR local.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B80B16-566C-4CD6-9EFD-B67F8342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25780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847AE"/>
                </a:solidFill>
              </a:defRPr>
            </a:pPr>
            <a:r>
              <a:rPr sz="1200" b="1">
                <a:solidFill>
                  <a:srgbClr val="0847AE"/>
                </a:solidFill>
              </a:rPr>
              <a:t>BẰNG CHỨNG  ·  calculation + constraint + CRC + tests</a:t>
            </a:r>
          </a:p>
        </p:txBody>
      </p:sp>
    </p:spTree>
    <p:extLst>
      <p:ext uri="{BB962C8B-B14F-4D97-AF65-F5344CB8AC3E}">
        <p14:creationId xmlns:p14="http://schemas.microsoft.com/office/powerpoint/2010/main" val="1451342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1632A44-B266-49EA-9748-93D05C89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56211-6DF6-4D72-8B11-19CABA5C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Một mạng local, ba lớp thật, boundary rõ ràng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1516BA-E343-4D45-9BB0-2241CA2A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717148-E935-4D71-94DA-D41448F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7C540C-022A-4D0D-841E-876EDF36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iPhone và Web dùng cùng client; runtime vẫn độc lập trong </a:t>
            </a:r>
            <a:r>
              <a:rPr sz="1650" b="0">
                <a:solidFill>
                  <a:srgbClr val="566175"/>
                </a:solidFill>
              </a:rPr>
              <a:t>poc-local/</a:t>
            </a:r>
            <a:r>
              <a:rPr sz="1650" b="0">
                <a:solidFill>
                  <a:srgbClr val="566175"/>
                </a:solidFill>
              </a:rPr>
              <a:t>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1685-63A3-43EB-8978-65BD8BA4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956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56828-6A81-4CDC-8FE9-E688A043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4194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8D83A7-5441-4D14-9E6E-A9FF25CCB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95675"/>
            <a:ext cx="723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232F8-5F60-41CC-95EB-D76C115B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194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BAFC2-1576-4D3E-B50F-610CFEBAF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3067050" cy="31432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EF7CF5-9D5B-4AE3-8FEA-32E1D0BA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D1B5A-8AEC-4209-A0B5-9DF21D2C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F0AC4F-5AFD-4011-BD8F-152C07D9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956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Expo SDK 54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0ADD2C-2665-42DB-AD05-4F89FECD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243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React Native iOS + Web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Typed API client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Loading / error states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DBB2D7-4AF2-4E01-9737-2D3B5AA6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80D070-C35B-4B85-93C1-81D5CA71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62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iPhone LAN · Web :8082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AB7C07-6D03-4023-AA68-B9815213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33625"/>
            <a:ext cx="3067050" cy="31432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4763BE-DBA6-4369-9798-EE2F0FB6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3F598B-D486-41D5-8272-EACD6AFB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71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E864797-35F0-49B5-9891-706218FD5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956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995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Express + TypeScript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AA25F1-366E-4083-90DE-D44B2A32A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243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Route → middleware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Service → repository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Zod + JWT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9330AB-9FD8-46F9-A8B3-724B6015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101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522415-B06E-498E-A623-CA63802D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162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Windows LAN · :3100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864456-2428-46E6-B233-0E3301FB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33625"/>
            <a:ext cx="3067050" cy="31432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40323-F6F0-4D36-BC8E-82E267B6D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619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8879B4-0A02-4310-BAAE-6DEF2358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717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368468-C743-456C-BF1C-03C1F6B0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956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Drizzle + PGlite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65442D-57FC-41A8-97C0-4A37BF160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571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PostgreSQL-compatible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Filesystem persistence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Unique constraints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72CC62-6883-483B-8A6E-74CCEB01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010150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320B1E6-1692-4CC2-BACD-0B7705C9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1625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.data/rosihome-poc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57412-29B7-4D9C-AB67-9D571330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43250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967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63F6"/>
                </a:solidFill>
              </a:defRPr>
            </a:pPr>
            <a:r>
              <a:rPr sz="1125" b="1">
                <a:solidFill>
                  <a:srgbClr val="0B63F6"/>
                </a:solidFill>
              </a:rPr>
              <a:t>HTTP + JSON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10164B-3F7C-4D2C-A66F-709370C2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1432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B63F6"/>
                </a:solidFill>
              </a:defRPr>
            </a:pPr>
            <a:r>
              <a:rPr sz="1125" b="1">
                <a:solidFill>
                  <a:srgbClr val="0B63F6"/>
                </a:solidFill>
              </a:rPr>
              <a:t>typed SQL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1E9A17-158D-41B3-87FD-10376980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57875"/>
            <a:ext cx="61341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76CE54-1D60-4336-AE27-420576F6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857875"/>
            <a:ext cx="613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Không import backend/ · Không import mobile/ · Không gọi cloud</a:t>
            </a:r>
          </a:p>
        </p:txBody>
      </p:sp>
    </p:spTree>
    <p:extLst>
      <p:ext uri="{BB962C8B-B14F-4D97-AF65-F5344CB8AC3E}">
        <p14:creationId xmlns:p14="http://schemas.microsoft.com/office/powerpoint/2010/main" val="568760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E980C0-82FE-49B9-A09B-8B226419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709F0-C909-48BC-B4F0-A9764BA9E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Luồng UI đi qua boundary thật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7FE90-67E6-4AEA-86AF-A68E3F5D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938E5E-E629-46DD-8A5D-FEA337A1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AB44A5-EDC1-4B0F-87CD-628BA2469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Ví dụ: lưu utility rate — cùng một pipeline dùng cho runtime và Supertest.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6B929B-F2A8-44C3-9615-25E3B76A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19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1BE7C2-79E4-4CFD-B181-F00AA8B0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3432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F6354-3AAF-47CD-8BAF-0F4B452B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419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BC0CF4-DB46-4F8C-BEFE-1CE78C9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3432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60901-C4D3-4FF0-A8E3-C33A38A1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419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C088C5-555D-4E82-856B-7438A0EA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432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02AED-4580-4EAA-9C26-26F32F22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419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48FB3-7D07-4448-ABB2-C1BBAB8A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432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173C5-EF1A-4E93-A122-0C868779F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19475"/>
            <a:ext cx="19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CEE481-9086-4A41-A70D-69A07604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432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73393-EBBC-4BEA-95F9-9818A08B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19250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447D6-06B3-4B0C-AD68-D0E291EB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71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63F6"/>
                </a:solidFill>
              </a:defRPr>
            </a:pPr>
            <a:r>
              <a:rPr sz="1500" b="1">
                <a:solidFill>
                  <a:srgbClr val="0B63F6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DBDD8E-903D-49F9-9ADC-40D64F872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Typed API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58A23B-56DD-416E-9B2F-CB89E155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3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Expo gửi JWT + JSON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5716ED-789A-4027-960C-04B17FE65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71750"/>
            <a:ext cx="1619250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A4F043-2091-464E-BF0E-EA941234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71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63F6"/>
                </a:solidFill>
              </a:defRPr>
            </a:pPr>
            <a:r>
              <a:rPr sz="1500" b="1">
                <a:solidFill>
                  <a:srgbClr val="0B63F6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27DEB-4EFE-4BED-BB0D-0D4B3A0E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289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Route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8A69CB-6E59-4FDF-AEAC-4003BEB8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481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HTTP boundary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036EF-9D31-4FE3-91F1-7D9731CE3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571750"/>
            <a:ext cx="1619250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B477E2-1C6E-4D0D-87DA-C068AD6D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71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63F6"/>
                </a:solidFill>
              </a:defRPr>
            </a:pPr>
            <a:r>
              <a:rPr sz="1500" b="1">
                <a:solidFill>
                  <a:srgbClr val="0B63F6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0F779D-C298-4ECF-A0C0-4572A862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289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Middleware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3517E-A04A-4F6E-B765-0C7DE446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481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JWT + Zod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FEFEDF-28F5-4F70-9E5D-810CBF16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571750"/>
            <a:ext cx="1619250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4C394-5AFA-42B5-8BE1-98F6179B8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71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63F6"/>
                </a:solidFill>
              </a:defRPr>
            </a:pPr>
            <a:r>
              <a:rPr sz="1500" b="1">
                <a:solidFill>
                  <a:srgbClr val="0B63F6"/>
                </a:solidFill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7F9C0A-87C9-486D-88ED-82486261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289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Service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DD62B21-874E-4499-885E-25106E7A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481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Business policy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E5102E-ED26-49D4-8ED1-E5C12F74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571750"/>
            <a:ext cx="1619250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E2BA55-97C8-45D9-A433-736E6ADE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71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63F6"/>
                </a:solidFill>
              </a:defRPr>
            </a:pPr>
            <a:r>
              <a:rPr sz="1500" b="1">
                <a:solidFill>
                  <a:srgbClr val="0B63F6"/>
                </a:solidFill>
              </a:rPr>
              <a:t>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BF6173-4671-4290-B0EA-97A437D3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289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Repository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4B0055-BA3A-4193-BA52-EF53ABFBF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481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owner_id scope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AD6494-31A2-4303-A924-591F87FD0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571750"/>
            <a:ext cx="1619250" cy="1857375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0B63F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3FDE0C-FAB1-4DE8-8DB1-36F65D04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771775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63F6"/>
                </a:solidFill>
              </a:defRPr>
            </a:pPr>
            <a:r>
              <a:rPr sz="1500" b="1">
                <a:solidFill>
                  <a:srgbClr val="0B63F6"/>
                </a:solidFill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D7B805-0D0F-45F3-BA3F-2C0B87F9C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28975"/>
            <a:ext cx="12763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PGlite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7EE088-C2D3-41A2-B63A-5D4EACF8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848100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Persisted record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F4146F-EF02-4085-85C3-1DB16DA8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6680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8AEDCA-B2E0-4607-9963-2AE0D734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958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847AE"/>
                </a:solidFill>
              </a:defRPr>
            </a:pPr>
            <a:r>
              <a:rPr sz="1725" b="1">
                <a:solidFill>
                  <a:srgbClr val="0847AE"/>
                </a:solidFill>
              </a:rPr>
              <a:t>Điểm chứng minh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7FE34C-3E18-4987-B8C7-2E29E5AC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086350"/>
            <a:ext cx="833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Tắt API → UI báo lỗi thật. Đóng/mở DB → record còn. Đổi landlord → resource biến mất.</a:t>
            </a:r>
          </a:p>
        </p:txBody>
      </p:sp>
    </p:spTree>
    <p:extLst>
      <p:ext uri="{BB962C8B-B14F-4D97-AF65-F5344CB8AC3E}">
        <p14:creationId xmlns:p14="http://schemas.microsoft.com/office/powerpoint/2010/main" val="963096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CE7BA-6668-4BCC-B0B1-491682DD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257F30-6202-4CC0-AE0C-AD35FAD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Bài toán khó không chỉ là cộng tiền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E5A43D-6B1D-40AF-A1C9-CAB2862D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8CFDB-A50C-4EC2-9BC7-E6EBA1FF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091EF7-7E17-4B4D-AB07-26978DDC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53149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EA2CC-48BB-47D5-9180-98C8CF0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47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63F6"/>
                </a:solidFill>
              </a:defRPr>
            </a:pPr>
            <a:r>
              <a:rPr sz="2100" b="1">
                <a:solidFill>
                  <a:srgbClr val="0B63F6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009CE-FFB8-4A1C-A4B1-B4328476F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38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Decimal → integer VND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160DB5-0D1A-486A-9CBF-8F28CD97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38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Không dùng floating-point cho tiền; milli-unit + BigInt + half-up.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69B4B4-5C95-4A57-93E6-5CDE360F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3149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C9763-E420-4340-A45C-7E22D6382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4790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63F6"/>
                </a:solidFill>
              </a:defRPr>
            </a:pPr>
            <a:r>
              <a:rPr sz="2100" b="1">
                <a:solidFill>
                  <a:srgbClr val="0B63F6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93234E-405C-4C67-A454-5557459E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Duplicate ≠ conflict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D6812-7A1E-4A62-A014-414F2910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3845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Replay cùng fingerprint; 409 nếu cùng identity nhưng đổi input.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E7E03-16A4-44CA-8BB6-5F984E6E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3149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06D868-462C-4D2A-AE27-48553BF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624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63F6"/>
                </a:solidFill>
              </a:defRPr>
            </a:pPr>
            <a:r>
              <a:rPr sz="2100" b="1">
                <a:solidFill>
                  <a:srgbClr val="0B63F6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90B42A-4717-4F94-89BA-6962C95D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529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Lịch sử bất biến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4F29ED-B88E-48C9-A344-BB592EBD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9530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Snapshot readings, rates, dates, line items, policy và fingerprint.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47E5B-DC0F-4435-B171-A72F9121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14800"/>
            <a:ext cx="531495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0A2D57-EDC0-4164-893E-7D30CEA8F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62450"/>
            <a:ext cx="552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63F6"/>
                </a:solidFill>
              </a:defRPr>
            </a:pPr>
            <a:r>
              <a:rPr sz="2100" b="1">
                <a:solidFill>
                  <a:srgbClr val="0B63F6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EF402A-E9B6-46FB-8D47-D4DA2FCA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52925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Ownership + state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76114F-4879-4C5C-A5AD-3A16AE2E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953000"/>
            <a:ext cx="4000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Mọi query scope theo owner; lifecycle chỉ Draft → Sent.</a:t>
            </a:r>
          </a:p>
        </p:txBody>
      </p:sp>
    </p:spTree>
    <p:extLst>
      <p:ext uri="{BB962C8B-B14F-4D97-AF65-F5344CB8AC3E}">
        <p14:creationId xmlns:p14="http://schemas.microsoft.com/office/powerpoint/2010/main" val="1198316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B4A9E5-2CF3-41A3-84A3-9D246499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3E480-2C61-40FE-A716-D9B3C241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4.085.744 VND có thể tái tạo đến từng đồng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C976B0-7C23-4C63-8E12-E01D1D0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D4BF7-92D6-4B61-B8B7-41230867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2659A-E1BF-4CAA-B634-58544E8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905125" cy="3714750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715877-5C7B-41D7-B826-67A77EBA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F6"/>
                </a:solidFill>
              </a:defRPr>
            </a:pPr>
            <a:r>
              <a:rPr sz="1275" b="1">
                <a:solidFill>
                  <a:srgbClr val="0B63F6"/>
                </a:solidFill>
              </a:rPr>
              <a:t>INPUT SNAPSHOT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050A35-2EBB-4254-81CD-0FEF7319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2333625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Phòng      P.101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Kỳ             2026-07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Tiền phòng  4.000.000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Điện          100.125 → 112.625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Nước        20 → 22.333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C2B7C3-E9D4-4F2D-822F-DF9CDA4E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14312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ADBFB7-2496-4E25-BE05-743B5551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863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≤ 3 chữ số thập phân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632A7-0E0C-498C-9430-0D2CFE21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4648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DD0BF-B804-4CDC-96D2-A4D9DDC9A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266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F6"/>
                </a:solidFill>
              </a:defRPr>
            </a:pPr>
            <a:r>
              <a:rPr sz="1275" b="1">
                <a:solidFill>
                  <a:srgbClr val="0B63F6"/>
                </a:solidFill>
              </a:rPr>
              <a:t>INTEGER ARITHMETIC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AF795-F947-4ACE-86DA-1335347B7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813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Điện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5FDB33-928B-4526-9B86-CFE1EB6C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813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12.500 × 3.500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26F9B6-0DA2-4B77-9E95-6B86C24C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813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43.750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328485-4909-406C-9812-8B00C9ACA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3850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DD09D8-2766-4C25-8727-81C026AF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4805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Nước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40C75-25F7-430D-9643-FC6DD67C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48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827"/>
                </a:solidFill>
              </a:defRPr>
            </a:pPr>
            <a:r>
              <a:rPr sz="1725" b="0">
                <a:solidFill>
                  <a:srgbClr val="111827"/>
                </a:solidFill>
              </a:rPr>
              <a:t>2.333 × 18.000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EA3076-E5DD-4A30-AB8C-9B2BD12B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480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r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41.994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9A1D0-1CBA-4616-A97D-4B127D47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05250"/>
            <a:ext cx="4000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701888-8FC9-4D92-9CA9-2A6BB862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152900"/>
            <a:ext cx="76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Policy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66EC0-DA06-49E1-8766-20644FFE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152900"/>
            <a:ext cx="300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milli-unit × rate → half-up VND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22DC9-1FBF-4E36-A616-9484309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JavaScript floating-point không tham gia phép tính tiền.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E6DAD6-9D2D-4D5C-B517-6CC7A051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00250"/>
            <a:ext cx="2628900" cy="37147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B63F6"/>
          </a:solidFill>
          <a:ln xmlns:a="http://schemas.openxmlformats.org/drawingml/2006/main" w="9525">
            <a:solidFill>
              <a:srgbClr val="0B63F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E7649A-8261-4380-A5C3-2E5D20C7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00300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EAFE4-0CCE-4884-B865-CD88573E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48000"/>
            <a:ext cx="20574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4.085.744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556119-DAC5-4302-9BAB-40F6FEA0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886200"/>
            <a:ext cx="2057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1667"/>
          </a:bodyPr>
          <a:lstStyle xmlns:a="http://schemas.openxmlformats.org/drawingml/2006/main"/>
          <a:p xmlns:a="http://schemas.openxmlformats.org/drawingml/2006/main">
            <a:pPr algn="r">
              <a:buNone/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VND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DCDEF1-1B3E-4305-AC2B-52BC6AD8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533900"/>
            <a:ext cx="2057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A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0E2107-9CCD-451A-827B-08CF51CB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74345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296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Base 4.000.000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+ Điện 43.750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+ Nước 41.994</a:t>
            </a:r>
          </a:p>
        </p:txBody>
      </p:sp>
    </p:spTree>
    <p:extLst>
      <p:ext uri="{BB962C8B-B14F-4D97-AF65-F5344CB8AC3E}">
        <p14:creationId xmlns:p14="http://schemas.microsoft.com/office/powerpoint/2010/main" val="44071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FC7224-90AF-4FED-94B9-2D5A276C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43886-94DF-4039-B784-E5D58A03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Database chặn duplicate; service phân biệt conflict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DB45B-78DB-4D9B-A5A6-18E28D66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1C36B-CF79-4570-B9AC-84D3A26C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C02C0-4BCD-407E-A2BF-6B983C9AD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Identity = property + normalized room + billing period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83FB75-1E0C-471B-B0C8-070E084A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1242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00939A-7FD8-4E6A-BB78-6E86A3FC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0480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DD06F-2BB7-4041-97DA-FEE77CE4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505CE-0AA2-4936-848C-C386E5EB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048000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AC6D2-B981-4372-A615-0FAD70140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45745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5AA928-0EBC-4106-ACE9-D723E40B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63F6"/>
                </a:solidFill>
              </a:defRPr>
            </a:pPr>
            <a:r>
              <a:rPr sz="1350" b="1">
                <a:solidFill>
                  <a:srgbClr val="0B63F6"/>
                </a:solidFill>
              </a:rPr>
              <a:t>1 · 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F37133-7E07-49BD-B20E-9BB749798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Milli-unit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room uppercase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SHA-256 fingerprint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3D1CB1-3A24-41DF-98D4-108B8843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33625"/>
            <a:ext cx="26670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0B63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DB8DC-DF77-45EB-8840-9AD90CAE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571750"/>
            <a:ext cx="2209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63F6"/>
                </a:solidFill>
              </a:defRPr>
            </a:pPr>
            <a:r>
              <a:rPr sz="1350" b="1">
                <a:solidFill>
                  <a:srgbClr val="0B63F6"/>
                </a:solidFill>
              </a:rPr>
              <a:t>2 · UNIQUE CONSTRAINT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A681A-AFDD-4568-9C71-1F457BDB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76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At most one invoice</a:t>
            </a:r>
          </a:p>
          <a:p xmlns:a="http://schemas.openxmlformats.org/drawingml/2006/main">
            <a:pPr algn="l">
              <a:buNone/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cho một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5E8748-D46E-4025-8542-1FC08C23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43125"/>
            <a:ext cx="41719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5EAA8E-034E-4273-A4FE-2D016A1B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71725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Cùng fingerprint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A6AB6-856A-42B0-A4C9-6359AC65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43150"/>
            <a:ext cx="1676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DEE1FE-4EAE-4E7C-8A6E-655535198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43150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REPLAY · no insert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9B3491-77A7-4187-831B-5079A0CB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41719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FE46B9-A4A4-499A-B465-8B416C33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67100"/>
            <a:ext cx="1857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Khác fingerprint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31987E-32D3-457B-8F72-4236604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38525"/>
            <a:ext cx="16764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CC0342-7F41-4FAE-A84D-93863375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438525"/>
            <a:ext cx="1676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409 · preserve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142F90-026C-4B2D-9470-283B371F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9BDAE5-0395-49E6-ABEB-5A6BB727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781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63F6"/>
                </a:solidFill>
              </a:defRPr>
            </a:pPr>
            <a:r>
              <a:rPr sz="1350" b="1">
                <a:solidFill>
                  <a:srgbClr val="0B63F6"/>
                </a:solidFill>
              </a:rPr>
              <a:t>STATE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E7B3575-877C-4E6E-B2D1-B1BBAFB5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00600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D3A1F8-FB5C-4390-8628-EF518BFE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006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DRAFT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7F9A4B-69D7-434F-BE3E-4CEB6119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9815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A541EB-4D9E-4CBD-99C4-34BC5C27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905375"/>
            <a:ext cx="17145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5FEDA9-4765-4AEE-8A24-3ACD841F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00600"/>
            <a:ext cx="11430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63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9C609A-28C3-4854-B57F-A02807D7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80060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SENT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640103-B0EC-474F-9466-EB3697417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48225"/>
            <a:ext cx="533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Gửi lại giữ nguyên sent_at. Không có endpoint Paid.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14E8D9-5960-4D84-8DAC-9528A5D4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909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175"/>
                </a:solidFill>
              </a:defRPr>
            </a:pPr>
            <a:r>
              <a:rPr sz="1425" b="0">
                <a:solidFill>
                  <a:srgbClr val="566175"/>
                </a:solidFill>
              </a:rPr>
              <a:t>Mọi read / send / QR đều join qua property và lọc landlord_id.</a:t>
            </a:r>
          </a:p>
        </p:txBody>
      </p:sp>
    </p:spTree>
    <p:extLst>
      <p:ext uri="{BB962C8B-B14F-4D97-AF65-F5344CB8AC3E}">
        <p14:creationId xmlns:p14="http://schemas.microsoft.com/office/powerpoint/2010/main" val="8530883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76C9D7-F451-4877-BD96-26E7CC75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91F66-9EBC-454E-80B4-7375A21F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5324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VietQR được tạo local — không giả vờ là payment gateway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167C5-ADD6-4282-9209-7A181E3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10A89-1574-440C-A7A5-824B5F91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E1910-CC03-43D4-8E92-708970516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7150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2557D-804A-401C-A204-72C92612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1932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F6"/>
                </a:solidFill>
              </a:defRPr>
            </a:pPr>
            <a:r>
              <a:rPr sz="1275" b="1">
                <a:solidFill>
                  <a:srgbClr val="0B63F6"/>
                </a:solidFill>
              </a:rPr>
              <a:t>PAYLOAD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92F7B1-8A7C-43FE-919A-B634AF9C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66175"/>
                </a:solidFill>
              </a:defRPr>
            </a:pPr>
            <a:r>
              <a:rPr sz="1500" b="1">
                <a:solidFill>
                  <a:srgbClr val="566175"/>
                </a:solidFill>
              </a:rPr>
              <a:t>AID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A905A8-8DF0-403A-97C4-85E71CD26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24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A000000727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615AD-A696-4096-B73D-D1BC4F8B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813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66175"/>
                </a:solidFill>
              </a:defRPr>
            </a:pPr>
            <a:r>
              <a:rPr sz="1500" b="1">
                <a:solidFill>
                  <a:srgbClr val="566175"/>
                </a:solidFill>
              </a:rPr>
              <a:t>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20D6F-B8A5-4B2F-A53C-9E08EC6C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181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QRIBFTTA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21332C-8839-4FB5-B2DC-6E81ECB6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66175"/>
                </a:solidFill>
              </a:defRPr>
            </a:pPr>
            <a:r>
              <a:rPr sz="1500" b="1">
                <a:solidFill>
                  <a:srgbClr val="566175"/>
                </a:solidFill>
              </a:rPr>
              <a:t>Currency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816CB-8F43-4A0E-927A-5E6A58B8C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6385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704 · VND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79E25E-681F-41B6-ABA5-D1397D5F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66175"/>
                </a:solidFill>
              </a:defRPr>
            </a:pPr>
            <a:r>
              <a:rPr sz="1500" b="1">
                <a:solidFill>
                  <a:srgbClr val="566175"/>
                </a:solidFill>
              </a:rPr>
              <a:t>Amount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ED94A9-11B5-4FC0-A1E0-2984EC217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095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4.085.744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3D32CB-2009-4EE4-80FE-28D1766E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529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66175"/>
                </a:solidFill>
              </a:defRPr>
            </a:pPr>
            <a:r>
              <a:rPr sz="1500" b="1">
                <a:solidFill>
                  <a:srgbClr val="566175"/>
                </a:solidFill>
              </a:rPr>
              <a:t>Remark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CEF5B2-8A31-41FB-A40E-FA72465C8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5529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ROSI P.101 202607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8BF8FD-26FA-493B-9CA0-0D8BAF67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101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66175"/>
                </a:solidFill>
              </a:defRPr>
            </a:pPr>
            <a:r>
              <a:rPr sz="1500" b="1">
                <a:solidFill>
                  <a:srgbClr val="566175"/>
                </a:solidFill>
              </a:rPr>
              <a:t>Integrity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1D711-65DA-41D3-B926-FAABF800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5010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CRC16-CCITT-FALSE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48EEA-0B67-448D-AB5D-D1FEB028B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3075"/>
            <a:ext cx="48768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6F1AA-5490-4AE8-9535-D4577A7A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553075"/>
            <a:ext cx="487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Generate QR ≠ money moved ≠ payment verified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31601-4536-4A83-9915-C2B2B3B7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4648200" cy="4048125"/>
          </a:xfrm>
          <a:prstGeom xmlns:a="http://schemas.openxmlformats.org/drawingml/2006/main" prst="roundRect">
            <a:avLst>
              <a:gd name="adj" fmla="val 2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5cf77e9d14efd"/>
          <a:stretch xmlns:a="http://schemas.openxmlformats.org/drawingml/2006/main"/>
        </p:blipFill>
        <p:spPr>
          <a:xfrm xmlns:a="http://schemas.openxmlformats.org/drawingml/2006/main">
            <a:off x="7658100" y="2238375"/>
            <a:ext cx="3048000" cy="30480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C1610A-CA08-4350-B11F-ED19A864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57825"/>
            <a:ext cx="3924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STRUCTURE + CRC VALIDATED LOCALLY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5BB15A-B79B-4845-89E9-451D8768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43575"/>
            <a:ext cx="3924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66175"/>
                </a:solidFill>
              </a:defRPr>
            </a:pPr>
            <a:r>
              <a:rPr sz="1275" b="0">
                <a:solidFill>
                  <a:srgbClr val="566175"/>
                </a:solidFill>
              </a:rPr>
              <a:t>Invoice vẫn ở trạng thái Sent</a:t>
            </a:r>
          </a:p>
        </p:txBody>
      </p:sp>
    </p:spTree>
    <p:extLst>
      <p:ext uri="{BB962C8B-B14F-4D97-AF65-F5344CB8AC3E}">
        <p14:creationId xmlns:p14="http://schemas.microsoft.com/office/powerpoint/2010/main" val="1062509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7C6FD1-0C4C-44A5-8AC2-42CE12A2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63F6"/>
                </a:solidFill>
              </a:defRPr>
            </a:pPr>
            <a:r>
              <a:rPr sz="1200" b="1">
                <a:solidFill>
                  <a:srgbClr val="0B63F6"/>
                </a:solidFill>
              </a:rPr>
              <a:t>ROSI-HOME · LOCAL POC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03EAE-52DB-4C90-86BB-2FC82800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14375"/>
            <a:ext cx="108204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Bằng chứng chạy được thay cho lời hứa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B7462-9140-48C8-AFDF-97F56F21F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CEEDF-1AD7-42E1-8DB4-592459084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3B39F-D5C2-4649-930E-1557F59B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800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66175"/>
                </a:solidFill>
              </a:defRPr>
            </a:pPr>
            <a:r>
              <a:rPr sz="1650" b="0">
                <a:solidFill>
                  <a:srgbClr val="566175"/>
                </a:solidFill>
              </a:rPr>
              <a:t>Kết quả từ npm run verify:evidence trên Windows local.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DD4527-6C01-450F-B50F-105B010F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333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588E8-F965-4493-A50C-5F91253E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193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B63F6"/>
                </a:solidFill>
              </a:defRPr>
            </a:pPr>
            <a:r>
              <a:rPr sz="4050" b="1">
                <a:solidFill>
                  <a:srgbClr val="0B63F6"/>
                </a:solidFill>
              </a:rPr>
              <a:t>25 / 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791C44-61CD-4D5A-8811-A3E20032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tests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F0ACD2-A1AA-47C3-A094-1FBAC935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43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175"/>
                </a:solidFill>
              </a:defRPr>
            </a:pPr>
            <a:r>
              <a:rPr sz="1425" b="0">
                <a:solidFill>
                  <a:srgbClr val="566175"/>
                </a:solidFill>
              </a:rPr>
              <a:t>Auth · ownership · persistence · billing · LAN config · VietQR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142FBC-6EA8-42E2-A1F0-497080C2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86000"/>
            <a:ext cx="3333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F0394A-911D-4EF1-85C6-0C987058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193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B63F6"/>
                </a:solidFill>
              </a:defRPr>
            </a:pPr>
            <a:r>
              <a:rPr sz="4050" b="1">
                <a:solidFill>
                  <a:srgbClr val="0B63F6"/>
                </a:solidFill>
              </a:rPr>
              <a:t>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0A2CEF-5532-43ED-8E8E-9FA0E841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24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test 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F75DF9-CD2B-4E9D-A077-0A5E304C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43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175"/>
                </a:solidFill>
              </a:defRPr>
            </a:pPr>
            <a:r>
              <a:rPr sz="1425" b="0">
                <a:solidFill>
                  <a:srgbClr val="566175"/>
                </a:solidFill>
              </a:rPr>
              <a:t>HTTP pipeline + close/reopen + host config + TLV/CRC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67003-D1EC-4E0B-A903-73BD6515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286000"/>
            <a:ext cx="3333750" cy="2714625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A08DF3-5C97-4438-96A3-AFC3B2813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1937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0B63F6"/>
                </a:solidFill>
              </a:defRPr>
            </a:pPr>
            <a:r>
              <a:rPr sz="4050" b="1">
                <a:solidFill>
                  <a:srgbClr val="0B63F6"/>
                </a:solidFill>
              </a:rPr>
              <a:t>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DD2975-A7A2-4891-BD65-BB197EF8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242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high / critical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933233-70CD-4B6C-96B8-DABE1FF0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43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66175"/>
                </a:solidFill>
              </a:defRPr>
            </a:pPr>
            <a:r>
              <a:rPr sz="1425" b="0">
                <a:solidFill>
                  <a:srgbClr val="566175"/>
                </a:solidFill>
              </a:rPr>
              <a:t>Audit gate pass · 11 moderate advisories still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AFB684-C720-4046-84F9-54F542902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5346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9525">
            <a:solidFill>
              <a:srgbClr val="E9F2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EAA6C9-C674-4572-BC20-889E1C23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67350"/>
            <a:ext cx="781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47AE"/>
                </a:solidFill>
              </a:defRPr>
            </a:pPr>
            <a:r>
              <a:rPr sz="1650" b="1">
                <a:solidFill>
                  <a:srgbClr val="0847AE"/>
                </a:solidFill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87015E-F9B2-455F-9162-0C6B8A61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467350"/>
            <a:ext cx="885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827"/>
                </a:solidFill>
              </a:defRPr>
            </a:pPr>
            <a:r>
              <a:rPr sz="1575" b="1">
                <a:solidFill>
                  <a:srgbClr val="111827"/>
                </a:solidFill>
              </a:rPr>
              <a:t>Strict TypeScript · API compile · Expo Web 412 kB · LAN health · OpenSpec strict</a:t>
            </a:r>
          </a:p>
        </p:txBody>
      </p:sp>
    </p:spTree>
    <p:extLst>
      <p:ext uri="{BB962C8B-B14F-4D97-AF65-F5344CB8AC3E}">
        <p14:creationId xmlns:p14="http://schemas.microsoft.com/office/powerpoint/2010/main" val="858780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2876D-43FF-4F58-B0D1-E7B784A0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0392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F6"/>
                </a:solidFill>
              </a:defRPr>
            </a:pPr>
            <a:r>
              <a:rPr sz="1275" b="1">
                <a:solidFill>
                  <a:srgbClr val="0B63F6"/>
                </a:solidFill>
              </a:rPr>
              <a:t>KẾT LUẬN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C0A6-5B45-46CC-9DCC-17201577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Hai yêu cầu PoC đã có</a:t>
            </a:r>
          </a:p>
          <a:p xmlns:a="http://schemas.openxmlformats.org/drawingml/2006/main">
            <a:pPr algn="l">
              <a:buNone/>
              <a:defRPr sz="4500" b="1">
                <a:solidFill>
                  <a:srgbClr val="111827"/>
                </a:solidFill>
              </a:defRPr>
            </a:pPr>
            <a:r>
              <a:rPr sz="4500" b="1">
                <a:solidFill>
                  <a:srgbClr val="111827"/>
                </a:solidFill>
              </a:rPr>
              <a:t>bằng chứng quan sát được.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3D6F6C-9AD2-4BAB-AAF4-0ADC6D1F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50958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BEA90B-4B24-4677-A66E-4DCB3758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63F6"/>
                </a:solidFill>
              </a:defRPr>
            </a:pPr>
            <a:r>
              <a:rPr sz="1275" b="1">
                <a:solidFill>
                  <a:srgbClr val="0B63F6"/>
                </a:solidFill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D76D7D-DEE5-4478-B39C-D0683AAB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Vertical slice thật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51314-F4C0-44A2-A24C-1855862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005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66175"/>
                </a:solidFill>
              </a:defRPr>
            </a:pPr>
            <a:r>
              <a:rPr sz="1575" b="0">
                <a:solidFill>
                  <a:srgbClr val="566175"/>
                </a:solidFill>
              </a:rPr>
              <a:t>Boundary rõ · persisted data · owner isolation · repeatable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7DEB7-62AD-4307-9D1C-F016F4C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048000"/>
            <a:ext cx="5362575" cy="2143125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B63F6"/>
          </a:solidFill>
          <a:ln xmlns:a="http://schemas.openxmlformats.org/drawingml/2006/main" w="9525">
            <a:solidFill>
              <a:srgbClr val="0B63F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0BD9E-FF37-48A7-A6EF-AB7FCBD3A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337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HARDEST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BDBD0C-380E-4941-ACC3-26A73400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810000"/>
            <a:ext cx="4619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7849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Invariants được bảo vệ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CF0DF7-9C80-4DA0-A135-D8BC6854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Integer money · snapshot · idempotency · state · local VietQR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64C28B-679E-4B92-B9EA-31B5F768A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000875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F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55E55-241A-46DC-B0F7-4F8C14F98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7000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47AE"/>
                </a:solidFill>
              </a:defRPr>
            </a:pPr>
            <a:r>
              <a:rPr sz="1275" b="1">
                <a:solidFill>
                  <a:srgbClr val="0847AE"/>
                </a:solidFill>
              </a:rPr>
              <a:t>Tiếp theo là productization — không còn là câu hỏi feasibility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3CA3A7-27E9-4DCD-B9A0-1734B333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3887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566175"/>
                </a:solidFill>
              </a:defRPr>
            </a:pPr>
            <a:r>
              <a:rPr sz="1200" b="1">
                <a:solidFill>
                  <a:srgbClr val="566175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992355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2026-07-22T17:29:17.9210000Z</dcterms:created>
  <dcterms:modified xsi:type="dcterms:W3CDTF">2026-07-22T17:29:17.9210000Z</dcterms:modified>
</coreProperties>
</file>